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DM Sans"/>
      <p:regular r:id="rId19"/>
      <p:bold r:id="rId20"/>
      <p:italic r:id="rId21"/>
      <p:boldItalic r:id="rId22"/>
    </p:embeddedFont>
    <p:embeddedFont>
      <p:font typeface="JetBrains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7" roundtripDataSignature="AMtx7mgMrLTq14/E5f9rko95pGwL0Ap8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2376CF-9DAF-4699-B2B6-151652B9CA81}">
  <a:tblStyle styleId="{AB2376CF-9DAF-4699-B2B6-151652B9CA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22" Type="http://schemas.openxmlformats.org/officeDocument/2006/relationships/font" Target="fonts/DMSans-boldItalic.fntdata"/><Relationship Id="rId21" Type="http://schemas.openxmlformats.org/officeDocument/2006/relationships/font" Target="fonts/DMSans-italic.fntdata"/><Relationship Id="rId24" Type="http://schemas.openxmlformats.org/officeDocument/2006/relationships/font" Target="fonts/JetBrainsMono-bold.fntdata"/><Relationship Id="rId23" Type="http://schemas.openxmlformats.org/officeDocument/2006/relationships/font" Target="fonts/JetBrains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JetBrainsMono-boldItalic.fntdata"/><Relationship Id="rId25" Type="http://schemas.openxmlformats.org/officeDocument/2006/relationships/font" Target="fonts/JetBrainsMono-italic.fntdata"/><Relationship Id="rId27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DMSans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Relationship Id="rId4" Type="http://schemas.openxmlformats.org/officeDocument/2006/relationships/image" Target="../media/image1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609600" y="4900612"/>
            <a:ext cx="6858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609600" y="1919287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DEPI CAPSTONE PROJECT — INITIAL DRAFT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609600" y="2271712"/>
            <a:ext cx="8301037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Supply Chain &amp; Logistics Analytics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609600" y="4005262"/>
            <a:ext cx="65722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End-to-end performance tracking across product velocity, carrier efficiency, and supplier quality control.</a:t>
            </a:r>
            <a:endParaRPr/>
          </a:p>
        </p:txBody>
      </p:sp>
      <p:pic>
        <p:nvPicPr>
          <p:cNvPr id="88" name="Google Shape;88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731" y="128550"/>
            <a:ext cx="1231100" cy="11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875175" y="128549"/>
            <a:ext cx="1231100" cy="1080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24600" y="1738312"/>
            <a:ext cx="52578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4600" y="1738312"/>
            <a:ext cx="52578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 / PROJECT OVERVIEW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Business Problem &amp; Scope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609600" y="2319337"/>
            <a:ext cx="53530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Eliminating operational blind spots across retail supply lines.</a:t>
            </a:r>
            <a:endParaRPr/>
          </a:p>
        </p:txBody>
      </p:sp>
      <p:sp>
        <p:nvSpPr>
          <p:cNvPr id="99" name="Google Shape;99;p2"/>
          <p:cNvSpPr txBox="1"/>
          <p:nvPr/>
        </p:nvSpPr>
        <p:spPr>
          <a:xfrm>
            <a:off x="771525" y="307181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838200" y="3100387"/>
            <a:ext cx="5124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Cost Volatility: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Unoptimized freight routes inflate shipping expenses.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771525" y="371951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838200" y="3748087"/>
            <a:ext cx="5124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Lead Time Delays: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Inconsistent procurement cycles disrupt stock availability.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771525" y="436721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838200" y="4395787"/>
            <a:ext cx="5124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Quality Bottlenecks: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Elevated defect rates reduce net profit margins.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771525" y="5014912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38200" y="5043487"/>
            <a:ext cx="51244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Core Objective: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Centralize KPIs inside an interactive Power BI dashboard.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 / DATA SOURCE</a:t>
            </a:r>
            <a:endParaRPr/>
          </a:p>
        </p:txBody>
      </p:sp>
      <p:sp>
        <p:nvSpPr>
          <p:cNvPr id="112" name="Google Shape;112;p3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Dataset Architecture</a:t>
            </a:r>
            <a:endParaRPr/>
          </a:p>
        </p:txBody>
      </p:sp>
      <p:sp>
        <p:nvSpPr>
          <p:cNvPr id="113" name="Google Shape;113;p3"/>
          <p:cNvSpPr txBox="1"/>
          <p:nvPr/>
        </p:nvSpPr>
        <p:spPr>
          <a:xfrm>
            <a:off x="609600" y="1381125"/>
            <a:ext cx="1158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Comprehensive Fashion &amp; Beauty startup supply chain records covering full SKU lifecycles.</a:t>
            </a:r>
            <a:endParaRPr/>
          </a:p>
        </p:txBody>
      </p:sp>
      <p:sp>
        <p:nvSpPr>
          <p:cNvPr id="114" name="Google Shape;114;p3"/>
          <p:cNvSpPr txBox="1"/>
          <p:nvPr/>
        </p:nvSpPr>
        <p:spPr>
          <a:xfrm>
            <a:off x="609600" y="3529012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100</a:t>
            </a:r>
            <a:endParaRPr/>
          </a:p>
        </p:txBody>
      </p:sp>
      <p:sp>
        <p:nvSpPr>
          <p:cNvPr id="115" name="Google Shape;115;p3"/>
          <p:cNvSpPr txBox="1"/>
          <p:nvPr/>
        </p:nvSpPr>
        <p:spPr>
          <a:xfrm>
            <a:off x="609600" y="4443412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Active SKUs</a:t>
            </a:r>
            <a:endParaRPr/>
          </a:p>
        </p:txBody>
      </p:sp>
      <p:sp>
        <p:nvSpPr>
          <p:cNvPr id="116" name="Google Shape;116;p3"/>
          <p:cNvSpPr txBox="1"/>
          <p:nvPr/>
        </p:nvSpPr>
        <p:spPr>
          <a:xfrm>
            <a:off x="609600" y="4729162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Unique product records</a:t>
            </a:r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3429000" y="3529012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24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3429000" y="4443412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Key Variables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3429000" y="4729162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End-to-end attributes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6248400" y="3529012"/>
            <a:ext cx="314325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6248400" y="4443412"/>
            <a:ext cx="314325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Product Lines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6248400" y="4729162"/>
            <a:ext cx="3143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Skincare, Haircare, Cosmetics</a:t>
            </a:r>
            <a:endParaRPr/>
          </a:p>
        </p:txBody>
      </p:sp>
      <p:sp>
        <p:nvSpPr>
          <p:cNvPr id="123" name="Google Shape;123;p3"/>
          <p:cNvSpPr txBox="1"/>
          <p:nvPr/>
        </p:nvSpPr>
        <p:spPr>
          <a:xfrm>
            <a:off x="9067800" y="3529012"/>
            <a:ext cx="31242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F172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</a:t>
            </a:r>
            <a:endParaRPr/>
          </a:p>
        </p:txBody>
      </p:sp>
      <p:sp>
        <p:nvSpPr>
          <p:cNvPr id="124" name="Google Shape;124;p3"/>
          <p:cNvSpPr txBox="1"/>
          <p:nvPr/>
        </p:nvSpPr>
        <p:spPr>
          <a:xfrm>
            <a:off x="9067800" y="4443412"/>
            <a:ext cx="3124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Supplier Hubs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9067800" y="4729162"/>
            <a:ext cx="3124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Regional manufacturing centers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/>
          <p:nvPr/>
        </p:nvSpPr>
        <p:spPr>
          <a:xfrm>
            <a:off x="609600" y="3605212"/>
            <a:ext cx="257175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3409950" y="3605212"/>
            <a:ext cx="257175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210300" y="3605212"/>
            <a:ext cx="257175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9010650" y="3605212"/>
            <a:ext cx="2571750" cy="381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 / WORKFLOW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 Pipeline &amp; Methodology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609600" y="3138487"/>
            <a:ext cx="3214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01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609600" y="3833812"/>
            <a:ext cx="33754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Data Ingestion</a:t>
            </a:r>
            <a:endParaRPr/>
          </a:p>
        </p:txBody>
      </p:sp>
      <p:sp>
        <p:nvSpPr>
          <p:cNvPr id="138" name="Google Shape;138;p4"/>
          <p:cNvSpPr txBox="1"/>
          <p:nvPr/>
        </p:nvSpPr>
        <p:spPr>
          <a:xfrm>
            <a:off x="609600" y="4186237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Import raw CSV records into Power Query.</a:t>
            </a:r>
            <a:endParaRPr/>
          </a:p>
        </p:txBody>
      </p:sp>
      <p:sp>
        <p:nvSpPr>
          <p:cNvPr id="139" name="Google Shape;139;p4"/>
          <p:cNvSpPr txBox="1"/>
          <p:nvPr/>
        </p:nvSpPr>
        <p:spPr>
          <a:xfrm>
            <a:off x="3409950" y="3138487"/>
            <a:ext cx="3214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02</a:t>
            </a:r>
            <a:endParaRPr/>
          </a:p>
        </p:txBody>
      </p:sp>
      <p:sp>
        <p:nvSpPr>
          <p:cNvPr id="140" name="Google Shape;140;p4"/>
          <p:cNvSpPr txBox="1"/>
          <p:nvPr/>
        </p:nvSpPr>
        <p:spPr>
          <a:xfrm>
            <a:off x="3409950" y="3833812"/>
            <a:ext cx="33754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Quality Validation</a:t>
            </a:r>
            <a:endParaRPr/>
          </a:p>
        </p:txBody>
      </p:sp>
      <p:sp>
        <p:nvSpPr>
          <p:cNvPr id="141" name="Google Shape;141;p4"/>
          <p:cNvSpPr txBox="1"/>
          <p:nvPr/>
        </p:nvSpPr>
        <p:spPr>
          <a:xfrm>
            <a:off x="3409950" y="4186237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Verify zero nulls across SKU identifiers.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6210300" y="3138487"/>
            <a:ext cx="3214687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03</a:t>
            </a:r>
            <a:endParaRPr/>
          </a:p>
        </p:txBody>
      </p:sp>
      <p:sp>
        <p:nvSpPr>
          <p:cNvPr id="143" name="Google Shape;143;p4"/>
          <p:cNvSpPr txBox="1"/>
          <p:nvPr/>
        </p:nvSpPr>
        <p:spPr>
          <a:xfrm>
            <a:off x="6210300" y="3833812"/>
            <a:ext cx="337542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Feature Creation</a:t>
            </a:r>
            <a:endParaRPr/>
          </a:p>
        </p:txBody>
      </p:sp>
      <p:sp>
        <p:nvSpPr>
          <p:cNvPr id="144" name="Google Shape;144;p4"/>
          <p:cNvSpPr txBox="1"/>
          <p:nvPr/>
        </p:nvSpPr>
        <p:spPr>
          <a:xfrm>
            <a:off x="6210300" y="4186237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Calculate net margins via custom DAX measures.</a:t>
            </a:r>
            <a:endParaRPr/>
          </a:p>
        </p:txBody>
      </p:sp>
      <p:sp>
        <p:nvSpPr>
          <p:cNvPr id="145" name="Google Shape;145;p4"/>
          <p:cNvSpPr txBox="1"/>
          <p:nvPr/>
        </p:nvSpPr>
        <p:spPr>
          <a:xfrm>
            <a:off x="9010650" y="3138487"/>
            <a:ext cx="3181350" cy="352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STEP 04</a:t>
            </a:r>
            <a:endParaRPr/>
          </a:p>
        </p:txBody>
      </p:sp>
      <p:sp>
        <p:nvSpPr>
          <p:cNvPr id="146" name="Google Shape;146;p4"/>
          <p:cNvSpPr txBox="1"/>
          <p:nvPr/>
        </p:nvSpPr>
        <p:spPr>
          <a:xfrm>
            <a:off x="9010650" y="3833812"/>
            <a:ext cx="31813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Visual Reporting</a:t>
            </a:r>
            <a:endParaRPr/>
          </a:p>
        </p:txBody>
      </p:sp>
      <p:sp>
        <p:nvSpPr>
          <p:cNvPr id="147" name="Google Shape;147;p4"/>
          <p:cNvSpPr txBox="1"/>
          <p:nvPr/>
        </p:nvSpPr>
        <p:spPr>
          <a:xfrm>
            <a:off x="9010650" y="4186237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Build interactive executive Power BI views.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/>
          <p:nvPr/>
        </p:nvSpPr>
        <p:spPr>
          <a:xfrm>
            <a:off x="609600" y="769143"/>
            <a:ext cx="6096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 txBox="1"/>
          <p:nvPr/>
        </p:nvSpPr>
        <p:spPr>
          <a:xfrm>
            <a:off x="609600" y="1035843"/>
            <a:ext cx="11582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ANALYTICAL PILLAR 01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609600" y="1350168"/>
            <a:ext cx="11582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Sales &amp; Revenue Performance</a:t>
            </a:r>
            <a:endParaRPr/>
          </a:p>
        </p:txBody>
      </p:sp>
      <p:sp>
        <p:nvSpPr>
          <p:cNvPr id="155" name="Google Shape;155;p5"/>
          <p:cNvSpPr txBox="1"/>
          <p:nvPr/>
        </p:nvSpPr>
        <p:spPr>
          <a:xfrm>
            <a:off x="609600" y="2150268"/>
            <a:ext cx="619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Evaluating product category contribution, unit velocity, and customer demand segmentation.</a:t>
            </a:r>
            <a:endParaRPr/>
          </a:p>
        </p:txBody>
      </p:sp>
      <p:pic>
        <p:nvPicPr>
          <p:cNvPr id="156" name="Google Shape;15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85925" y="2993225"/>
            <a:ext cx="7972424" cy="400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 / CATEGORY BREAKDOWN</a:t>
            </a:r>
            <a:endParaRPr/>
          </a:p>
        </p:txBody>
      </p:sp>
      <p:sp>
        <p:nvSpPr>
          <p:cNvPr id="163" name="Google Shape;163;p6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Revenue Share by Category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609600" y="1304925"/>
            <a:ext cx="115824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Skincare dominates overall business revenue across the 100-SKU portfolio.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29100" y="1738312"/>
            <a:ext cx="7353300" cy="438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9100" y="1738312"/>
            <a:ext cx="7353300" cy="438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 / ANALYTICAL PILLAR 02</a:t>
            </a:r>
            <a:endParaRPr/>
          </a:p>
        </p:txBody>
      </p:sp>
      <p:sp>
        <p:nvSpPr>
          <p:cNvPr id="172" name="Google Shape;172;p7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Logistics &amp; Carrier Efficiency</a:t>
            </a:r>
            <a:endParaRPr/>
          </a:p>
        </p:txBody>
      </p:sp>
      <p:sp>
        <p:nvSpPr>
          <p:cNvPr id="173" name="Google Shape;173;p7"/>
          <p:cNvSpPr txBox="1"/>
          <p:nvPr/>
        </p:nvSpPr>
        <p:spPr>
          <a:xfrm>
            <a:off x="609600" y="2967037"/>
            <a:ext cx="350043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Multi-Modal Freight Optimization</a:t>
            </a:r>
            <a:endParaRPr/>
          </a:p>
        </p:txBody>
      </p:sp>
      <p:sp>
        <p:nvSpPr>
          <p:cNvPr id="174" name="Google Shape;174;p7"/>
          <p:cNvSpPr txBox="1"/>
          <p:nvPr/>
        </p:nvSpPr>
        <p:spPr>
          <a:xfrm>
            <a:off x="609600" y="3767137"/>
            <a:ext cx="3333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Evaluating transit times across Carrier A, Carrier B, and Carrier C over Road, Air, Rail, and Sea networks.</a:t>
            </a:r>
            <a:endParaRPr/>
          </a:p>
        </p:txBody>
      </p:sp>
      <p:sp>
        <p:nvSpPr>
          <p:cNvPr id="175" name="Google Shape;175;p7"/>
          <p:cNvSpPr txBox="1"/>
          <p:nvPr/>
        </p:nvSpPr>
        <p:spPr>
          <a:xfrm>
            <a:off x="609600" y="4672012"/>
            <a:ext cx="40481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Routes A, B &amp; C Tracked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609600" y="3043237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2346573" y="3043237"/>
            <a:ext cx="3145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5492204" y="3043237"/>
            <a:ext cx="1588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080795" y="3043237"/>
            <a:ext cx="1758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8838902" y="3043237"/>
            <a:ext cx="2743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609600" y="3624262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2346573" y="3624262"/>
            <a:ext cx="3145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5492204" y="3624262"/>
            <a:ext cx="1588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080795" y="3624262"/>
            <a:ext cx="1758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8838902" y="3624262"/>
            <a:ext cx="2743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09600" y="4205287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/>
          <p:nvPr/>
        </p:nvSpPr>
        <p:spPr>
          <a:xfrm>
            <a:off x="2346573" y="4205287"/>
            <a:ext cx="3145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8"/>
          <p:cNvSpPr/>
          <p:nvPr/>
        </p:nvSpPr>
        <p:spPr>
          <a:xfrm>
            <a:off x="5492204" y="4205287"/>
            <a:ext cx="1588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7080795" y="4205287"/>
            <a:ext cx="1758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8"/>
          <p:cNvSpPr/>
          <p:nvPr/>
        </p:nvSpPr>
        <p:spPr>
          <a:xfrm>
            <a:off x="8838902" y="4205287"/>
            <a:ext cx="2743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8"/>
          <p:cNvSpPr/>
          <p:nvPr/>
        </p:nvSpPr>
        <p:spPr>
          <a:xfrm>
            <a:off x="609600" y="4786312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2346573" y="4786312"/>
            <a:ext cx="3145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5492204" y="4786312"/>
            <a:ext cx="1588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8"/>
          <p:cNvSpPr/>
          <p:nvPr/>
        </p:nvSpPr>
        <p:spPr>
          <a:xfrm>
            <a:off x="7080795" y="4786312"/>
            <a:ext cx="1758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8"/>
          <p:cNvSpPr/>
          <p:nvPr/>
        </p:nvSpPr>
        <p:spPr>
          <a:xfrm>
            <a:off x="8838902" y="4786312"/>
            <a:ext cx="2743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609600" y="5367337"/>
            <a:ext cx="1736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2346573" y="5367337"/>
            <a:ext cx="314563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5492204" y="5367337"/>
            <a:ext cx="158859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>
            <a:off x="7080795" y="5367337"/>
            <a:ext cx="175810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/>
          <p:nvPr/>
        </p:nvSpPr>
        <p:spPr>
          <a:xfrm>
            <a:off x="8838902" y="5367337"/>
            <a:ext cx="274349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5" name="Google Shape;205;p8"/>
          <p:cNvGraphicFramePr/>
          <p:nvPr/>
        </p:nvGraphicFramePr>
        <p:xfrm>
          <a:off x="609600" y="24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{AB2376CF-9DAF-4699-B2B6-151652B9CA81}</a:tableStyleId>
              </a:tblPr>
              <a:tblGrid>
                <a:gridCol w="1736975"/>
                <a:gridCol w="3145625"/>
                <a:gridCol w="1588600"/>
                <a:gridCol w="1758100"/>
                <a:gridCol w="2743500"/>
              </a:tblGrid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Transit Mode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Primary Use Case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Cost Profile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Speed Rating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F172A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Optimization 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Road Freight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Regional hub distribution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Moderate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Fast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Route B consolidation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Air Freight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High-margin skincare SKUs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Express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Weight threshold caps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Rail Network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Bulk cross-city replenishment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Standard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Schedule synchronization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Sea Cargo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High-volume base stock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Lowest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Extended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334155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Lead time buffering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6" name="Google Shape;206;p8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 / FREIGHT BENCHMARKING</a:t>
            </a:r>
            <a:endParaRPr/>
          </a:p>
        </p:txBody>
      </p:sp>
      <p:sp>
        <p:nvSpPr>
          <p:cNvPr id="207" name="Google Shape;207;p8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Carrier &amp; Transit Mode Matrix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07 / ANALYTICAL PILLAR 03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Quality Control &amp; Defect Rates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4724400" y="2752725"/>
            <a:ext cx="3429000" cy="1504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2.5%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3471862" y="4410075"/>
            <a:ext cx="656034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Peak Average Defect Rate in Haircare Products</a:t>
            </a:r>
            <a:endParaRPr/>
          </a:p>
        </p:txBody>
      </p:sp>
      <p:sp>
        <p:nvSpPr>
          <p:cNvPr id="216" name="Google Shape;216;p9"/>
          <p:cNvSpPr txBox="1"/>
          <p:nvPr/>
        </p:nvSpPr>
        <p:spPr>
          <a:xfrm>
            <a:off x="2576512" y="4781550"/>
            <a:ext cx="8798718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Requires stricter supplier inspection protocols across Mumbai and Kolkata hubs.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0"/>
          <p:cNvSpPr/>
          <p:nvPr/>
        </p:nvSpPr>
        <p:spPr>
          <a:xfrm>
            <a:off x="609600" y="2976562"/>
            <a:ext cx="3454449" cy="1828800"/>
          </a:xfrm>
          <a:prstGeom prst="roundRect">
            <a:avLst>
              <a:gd fmla="val 6250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4368849" y="2857500"/>
            <a:ext cx="3454449" cy="2066925"/>
          </a:xfrm>
          <a:prstGeom prst="roundRect">
            <a:avLst>
              <a:gd fmla="val 5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8128099" y="2857500"/>
            <a:ext cx="3454449" cy="2066925"/>
          </a:xfrm>
          <a:prstGeom prst="roundRect">
            <a:avLst>
              <a:gd fmla="val 5529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4" name="Google Shape;22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3319462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1749" y="3200400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70999" y="320040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0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08 / DASHBOARD ARCHITECTURE</a:t>
            </a:r>
            <a:endParaRPr/>
          </a:p>
        </p:txBody>
      </p:sp>
      <p:sp>
        <p:nvSpPr>
          <p:cNvPr id="228" name="Google Shape;228;p10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Core Power BI Dashboard KPIs</a:t>
            </a:r>
            <a:endParaRPr/>
          </a:p>
        </p:txBody>
      </p:sp>
      <p:sp>
        <p:nvSpPr>
          <p:cNvPr id="229" name="Google Shape;229;p10"/>
          <p:cNvSpPr txBox="1"/>
          <p:nvPr/>
        </p:nvSpPr>
        <p:spPr>
          <a:xfrm>
            <a:off x="952500" y="3814762"/>
            <a:ext cx="363385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Revenue Velocity</a:t>
            </a:r>
            <a:endParaRPr/>
          </a:p>
        </p:txBody>
      </p:sp>
      <p:sp>
        <p:nvSpPr>
          <p:cNvPr id="230" name="Google Shape;230;p10"/>
          <p:cNvSpPr txBox="1"/>
          <p:nvPr/>
        </p:nvSpPr>
        <p:spPr>
          <a:xfrm>
            <a:off x="952500" y="4224337"/>
            <a:ext cx="346081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Track top-selling SKU margins.</a:t>
            </a:r>
            <a:endParaRPr/>
          </a:p>
        </p:txBody>
      </p:sp>
      <p:sp>
        <p:nvSpPr>
          <p:cNvPr id="231" name="Google Shape;231;p10"/>
          <p:cNvSpPr txBox="1"/>
          <p:nvPr/>
        </p:nvSpPr>
        <p:spPr>
          <a:xfrm>
            <a:off x="4711749" y="3695700"/>
            <a:ext cx="363385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Transit Cost Ratio</a:t>
            </a:r>
            <a:endParaRPr/>
          </a:p>
        </p:txBody>
      </p:sp>
      <p:sp>
        <p:nvSpPr>
          <p:cNvPr id="232" name="Google Shape;232;p10"/>
          <p:cNvSpPr txBox="1"/>
          <p:nvPr/>
        </p:nvSpPr>
        <p:spPr>
          <a:xfrm>
            <a:off x="4711749" y="4105275"/>
            <a:ext cx="28638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Optimize freight carrier selection.</a:t>
            </a:r>
            <a:endParaRPr/>
          </a:p>
        </p:txBody>
      </p:sp>
      <p:sp>
        <p:nvSpPr>
          <p:cNvPr id="233" name="Google Shape;233;p10"/>
          <p:cNvSpPr txBox="1"/>
          <p:nvPr/>
        </p:nvSpPr>
        <p:spPr>
          <a:xfrm>
            <a:off x="8470999" y="3695700"/>
            <a:ext cx="3633852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Defect Rate Index</a:t>
            </a:r>
            <a:endParaRPr/>
          </a:p>
        </p:txBody>
      </p:sp>
      <p:sp>
        <p:nvSpPr>
          <p:cNvPr id="234" name="Google Shape;234;p10"/>
          <p:cNvSpPr txBox="1"/>
          <p:nvPr/>
        </p:nvSpPr>
        <p:spPr>
          <a:xfrm>
            <a:off x="8470999" y="4105275"/>
            <a:ext cx="2863899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Monitor supplier failure thresholds.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1"/>
          <p:cNvSpPr/>
          <p:nvPr/>
        </p:nvSpPr>
        <p:spPr>
          <a:xfrm>
            <a:off x="6086475" y="2405062"/>
            <a:ext cx="19050" cy="30480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1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F766E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09 / STRATEGIC IMPACT</a:t>
            </a:r>
            <a:endParaRPr/>
          </a:p>
        </p:txBody>
      </p:sp>
      <p:sp>
        <p:nvSpPr>
          <p:cNvPr id="241" name="Google Shape;241;p11"/>
          <p:cNvSpPr txBox="1"/>
          <p:nvPr/>
        </p:nvSpPr>
        <p:spPr>
          <a:xfrm>
            <a:off x="609600" y="704850"/>
            <a:ext cx="115824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Optimization Roadmap</a:t>
            </a:r>
            <a:endParaRPr/>
          </a:p>
        </p:txBody>
      </p:sp>
      <p:sp>
        <p:nvSpPr>
          <p:cNvPr id="242" name="Google Shape;242;p11"/>
          <p:cNvSpPr txBox="1"/>
          <p:nvPr/>
        </p:nvSpPr>
        <p:spPr>
          <a:xfrm>
            <a:off x="609600" y="2771775"/>
            <a:ext cx="6588323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7706"/>
                </a:solidFill>
                <a:latin typeface="DM Sans"/>
                <a:ea typeface="DM Sans"/>
                <a:cs typeface="DM Sans"/>
                <a:sym typeface="DM Sans"/>
              </a:rPr>
              <a:t>Current Operational Bottlenecks</a:t>
            </a:r>
            <a:endParaRPr/>
          </a:p>
        </p:txBody>
      </p:sp>
      <p:sp>
        <p:nvSpPr>
          <p:cNvPr id="243" name="Google Shape;243;p11"/>
          <p:cNvSpPr txBox="1"/>
          <p:nvPr/>
        </p:nvSpPr>
        <p:spPr>
          <a:xfrm>
            <a:off x="6562725" y="2771775"/>
            <a:ext cx="562927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766E"/>
                </a:solidFill>
                <a:latin typeface="DM Sans"/>
                <a:ea typeface="DM Sans"/>
                <a:cs typeface="DM Sans"/>
                <a:sym typeface="DM Sans"/>
              </a:rPr>
              <a:t>Target Data-Driven Actions</a:t>
            </a:r>
            <a:endParaRPr/>
          </a:p>
        </p:txBody>
      </p:sp>
      <p:sp>
        <p:nvSpPr>
          <p:cNvPr id="244" name="Google Shape;244;p11"/>
          <p:cNvSpPr txBox="1"/>
          <p:nvPr/>
        </p:nvSpPr>
        <p:spPr>
          <a:xfrm>
            <a:off x="771525" y="32670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5" name="Google Shape;245;p11"/>
          <p:cNvSpPr txBox="1"/>
          <p:nvPr/>
        </p:nvSpPr>
        <p:spPr>
          <a:xfrm>
            <a:off x="838200" y="32956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Skincare Stockouts: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High-demand SKUs face inventory shortages.</a:t>
            </a:r>
            <a:endParaRPr/>
          </a:p>
        </p:txBody>
      </p:sp>
      <p:sp>
        <p:nvSpPr>
          <p:cNvPr id="246" name="Google Shape;246;p11"/>
          <p:cNvSpPr txBox="1"/>
          <p:nvPr/>
        </p:nvSpPr>
        <p:spPr>
          <a:xfrm>
            <a:off x="771525" y="39147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838200" y="39433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Carrier Cost Spikes: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Unbalanced allocation across Carrier B routes.</a:t>
            </a:r>
            <a:endParaRPr/>
          </a:p>
        </p:txBody>
      </p:sp>
      <p:sp>
        <p:nvSpPr>
          <p:cNvPr id="248" name="Google Shape;248;p11"/>
          <p:cNvSpPr txBox="1"/>
          <p:nvPr/>
        </p:nvSpPr>
        <p:spPr>
          <a:xfrm>
            <a:off x="771525" y="45624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49" name="Google Shape;249;p11"/>
          <p:cNvSpPr txBox="1"/>
          <p:nvPr/>
        </p:nvSpPr>
        <p:spPr>
          <a:xfrm>
            <a:off x="838200" y="45910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Failed Inspections: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Elevated haircare damage during transit.</a:t>
            </a:r>
            <a:endParaRPr/>
          </a:p>
        </p:txBody>
      </p:sp>
      <p:sp>
        <p:nvSpPr>
          <p:cNvPr id="250" name="Google Shape;250;p11"/>
          <p:cNvSpPr txBox="1"/>
          <p:nvPr/>
        </p:nvSpPr>
        <p:spPr>
          <a:xfrm>
            <a:off x="6724650" y="32670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1" name="Google Shape;251;p11"/>
          <p:cNvSpPr txBox="1"/>
          <p:nvPr/>
        </p:nvSpPr>
        <p:spPr>
          <a:xfrm>
            <a:off x="6791325" y="32956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Dynamic Reordering: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Align safety stock with SKU sales velocity.</a:t>
            </a:r>
            <a:endParaRPr/>
          </a:p>
        </p:txBody>
      </p:sp>
      <p:sp>
        <p:nvSpPr>
          <p:cNvPr id="252" name="Google Shape;252;p11"/>
          <p:cNvSpPr txBox="1"/>
          <p:nvPr/>
        </p:nvSpPr>
        <p:spPr>
          <a:xfrm>
            <a:off x="6724650" y="39147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3" name="Google Shape;253;p11"/>
          <p:cNvSpPr txBox="1"/>
          <p:nvPr/>
        </p:nvSpPr>
        <p:spPr>
          <a:xfrm>
            <a:off x="6791325" y="39433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Route Rebalancing: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Shift non-urgent freight to rail networks.</a:t>
            </a:r>
            <a:endParaRPr/>
          </a:p>
        </p:txBody>
      </p:sp>
      <p:sp>
        <p:nvSpPr>
          <p:cNvPr id="254" name="Google Shape;254;p11"/>
          <p:cNvSpPr txBox="1"/>
          <p:nvPr/>
        </p:nvSpPr>
        <p:spPr>
          <a:xfrm>
            <a:off x="6724650" y="4562475"/>
            <a:ext cx="66675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255" name="Google Shape;255;p11"/>
          <p:cNvSpPr txBox="1"/>
          <p:nvPr/>
        </p:nvSpPr>
        <p:spPr>
          <a:xfrm>
            <a:off x="6791325" y="4591050"/>
            <a:ext cx="48863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Supplier Audits:</a:t>
            </a: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Enforce pre-shipment quality checks at source.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/>
          <p:nvPr/>
        </p:nvSpPr>
        <p:spPr>
          <a:xfrm>
            <a:off x="5791200" y="4476750"/>
            <a:ext cx="609600" cy="381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3714750" y="2343150"/>
            <a:ext cx="4762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770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DIGITAL EGYPT PIONEERS INITIATIVE (DEPI)</a:t>
            </a:r>
            <a:endParaRPr/>
          </a:p>
        </p:txBody>
      </p:sp>
      <p:sp>
        <p:nvSpPr>
          <p:cNvPr id="262" name="Google Shape;262;p12"/>
          <p:cNvSpPr txBox="1"/>
          <p:nvPr/>
        </p:nvSpPr>
        <p:spPr>
          <a:xfrm>
            <a:off x="2014239" y="2695575"/>
            <a:ext cx="816352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FAFC"/>
                </a:solidFill>
                <a:latin typeface="DM Sans"/>
                <a:ea typeface="DM Sans"/>
                <a:cs typeface="DM Sans"/>
                <a:sym typeface="DM Sans"/>
              </a:rPr>
              <a:t>Thank You &amp; Next Steps</a:t>
            </a:r>
            <a:endParaRPr/>
          </a:p>
        </p:txBody>
      </p:sp>
      <p:sp>
        <p:nvSpPr>
          <p:cNvPr id="263" name="Google Shape;263;p12"/>
          <p:cNvSpPr txBox="1"/>
          <p:nvPr/>
        </p:nvSpPr>
        <p:spPr>
          <a:xfrm>
            <a:off x="2524125" y="3581400"/>
            <a:ext cx="71437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Final Power BI dashboard deployment and DAX model refinement in progress.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